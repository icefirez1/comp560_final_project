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Play"/>
      <p:regular r:id="rId12"/>
      <p:bold r:id="rId13"/>
    </p:embeddedFont>
    <p:embeddedFont>
      <p:font typeface="Koulen"/>
      <p:regular r:id="rId14"/>
    </p:embeddedFont>
    <p:embeddedFont>
      <p:font typeface="DM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DMSans-regular.fntdata"/><Relationship Id="rId14" Type="http://schemas.openxmlformats.org/officeDocument/2006/relationships/font" Target="fonts/Koulen-regular.fntdata"/><Relationship Id="rId17" Type="http://schemas.openxmlformats.org/officeDocument/2006/relationships/font" Target="fonts/DMSans-italic.fntdata"/><Relationship Id="rId16" Type="http://schemas.openxmlformats.org/officeDocument/2006/relationships/font" Target="fonts/DMSans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font" Target="fonts/DM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0c52939ae5_2_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0c52939ae5_2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c52939ae5_2_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0c52939ae5_2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6a239117a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a6a239117a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6a239117a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a6a239117a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a6a239117a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a6a239117a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www.youtube.com/watch?v=csOy3wOU28U" TargetMode="External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 title="89a02acb4e25a0083d9072ca226c25eac75da6bd-1280x720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/>
          <p:nvPr/>
        </p:nvSpPr>
        <p:spPr>
          <a:xfrm>
            <a:off x="13" y="0"/>
            <a:ext cx="9144000" cy="5143500"/>
          </a:xfrm>
          <a:prstGeom prst="rect">
            <a:avLst/>
          </a:prstGeom>
          <a:solidFill>
            <a:schemeClr val="dk1">
              <a:alpha val="6196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1" name="Google Shape;131;p25"/>
          <p:cNvGrpSpPr/>
          <p:nvPr/>
        </p:nvGrpSpPr>
        <p:grpSpPr>
          <a:xfrm>
            <a:off x="1932975" y="1918286"/>
            <a:ext cx="5278060" cy="1306925"/>
            <a:chOff x="1932975" y="1264824"/>
            <a:chExt cx="5278060" cy="1306925"/>
          </a:xfrm>
        </p:grpSpPr>
        <p:sp>
          <p:nvSpPr>
            <p:cNvPr id="132" name="Google Shape;132;p25"/>
            <p:cNvSpPr/>
            <p:nvPr/>
          </p:nvSpPr>
          <p:spPr>
            <a:xfrm>
              <a:off x="1932975" y="1264824"/>
              <a:ext cx="5278060" cy="543900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gradFill>
                    <a:gsLst>
                      <a:gs pos="0">
                        <a:srgbClr val="9B775A"/>
                      </a:gs>
                      <a:gs pos="50000">
                        <a:srgbClr val="CFB27C"/>
                      </a:gs>
                      <a:gs pos="100000">
                        <a:srgbClr val="9B775A"/>
                      </a:gs>
                    </a:gsLst>
                    <a:lin ang="5400012" scaled="0"/>
                  </a:gradFill>
                  <a:latin typeface="Koulen"/>
                </a:rPr>
                <a:t>League of Legends</a:t>
              </a:r>
            </a:p>
          </p:txBody>
        </p:sp>
        <p:sp>
          <p:nvSpPr>
            <p:cNvPr id="133" name="Google Shape;133;p25"/>
            <p:cNvSpPr/>
            <p:nvPr/>
          </p:nvSpPr>
          <p:spPr>
            <a:xfrm>
              <a:off x="2350563" y="2027849"/>
              <a:ext cx="4442886" cy="543900"/>
            </a:xfrm>
            <a:prstGeom prst="rect">
              <a:avLst/>
            </a:prstGeom>
          </p:spPr>
          <p:txBody>
            <a:bodyPr>
              <a:prstTxWarp prst="textPlain"/>
            </a:bodyPr>
            <a:lstStyle/>
            <a:p>
              <a:pPr lvl="0" algn="ctr"/>
              <a:r>
                <a:rPr b="0" i="0">
                  <a:ln>
                    <a:noFill/>
                  </a:ln>
                  <a:gradFill>
                    <a:gsLst>
                      <a:gs pos="0">
                        <a:srgbClr val="9B775A"/>
                      </a:gs>
                      <a:gs pos="50000">
                        <a:srgbClr val="CFB27C"/>
                      </a:gs>
                      <a:gs pos="100000">
                        <a:srgbClr val="9B775A"/>
                      </a:gs>
                    </a:gsLst>
                    <a:lin ang="5400012" scaled="0"/>
                  </a:gradFill>
                  <a:latin typeface="Koulen"/>
                </a:rPr>
                <a:t>Rank Predictor</a:t>
              </a:r>
            </a:p>
          </p:txBody>
        </p:sp>
      </p:grpSp>
      <p:sp>
        <p:nvSpPr>
          <p:cNvPr id="134" name="Google Shape;134;p25"/>
          <p:cNvSpPr txBox="1"/>
          <p:nvPr/>
        </p:nvSpPr>
        <p:spPr>
          <a:xfrm>
            <a:off x="2706300" y="1274225"/>
            <a:ext cx="37314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000">
                <a:solidFill>
                  <a:schemeClr val="lt1"/>
                </a:solidFill>
                <a:latin typeface="Koulen"/>
                <a:ea typeface="Koulen"/>
                <a:cs typeface="Koulen"/>
                <a:sym typeface="Koulen"/>
              </a:rPr>
              <a:t>COMP 560 Final Project</a:t>
            </a:r>
            <a:endParaRPr sz="3000">
              <a:solidFill>
                <a:schemeClr val="lt1"/>
              </a:solidFill>
              <a:latin typeface="Koulen"/>
              <a:ea typeface="Koulen"/>
              <a:cs typeface="Koulen"/>
              <a:sym typeface="Koulen"/>
            </a:endParaRPr>
          </a:p>
        </p:txBody>
      </p:sp>
      <p:sp>
        <p:nvSpPr>
          <p:cNvPr id="135" name="Google Shape;135;p25"/>
          <p:cNvSpPr txBox="1"/>
          <p:nvPr/>
        </p:nvSpPr>
        <p:spPr>
          <a:xfrm>
            <a:off x="3049650" y="3408900"/>
            <a:ext cx="304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chemeClr val="lt1"/>
                </a:solidFill>
                <a:latin typeface="Koulen"/>
                <a:ea typeface="Koulen"/>
                <a:cs typeface="Koulen"/>
                <a:sym typeface="Koulen"/>
              </a:rPr>
              <a:t>Al Pagar, Kaw Bu</a:t>
            </a:r>
            <a:r>
              <a:rPr lang="en-GB" sz="1500">
                <a:solidFill>
                  <a:schemeClr val="lt1"/>
                </a:solidFill>
                <a:latin typeface="Koulen"/>
                <a:ea typeface="Koulen"/>
                <a:cs typeface="Koulen"/>
                <a:sym typeface="Koulen"/>
              </a:rPr>
              <a:t>, </a:t>
            </a:r>
            <a:r>
              <a:rPr lang="en-GB" sz="1500">
                <a:solidFill>
                  <a:schemeClr val="lt1"/>
                </a:solidFill>
                <a:latin typeface="Koulen"/>
                <a:ea typeface="Koulen"/>
                <a:cs typeface="Koulen"/>
                <a:sym typeface="Koulen"/>
              </a:rPr>
              <a:t>Jennifer Lee, Saaketh Akula, Navya Katraju</a:t>
            </a:r>
            <a:endParaRPr sz="1500">
              <a:solidFill>
                <a:schemeClr val="lt1"/>
              </a:solidFill>
              <a:latin typeface="Koulen"/>
              <a:ea typeface="Koulen"/>
              <a:cs typeface="Koulen"/>
              <a:sym typeface="Koule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8000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6"/>
          <p:cNvSpPr txBox="1"/>
          <p:nvPr/>
        </p:nvSpPr>
        <p:spPr>
          <a:xfrm>
            <a:off x="1495452" y="411850"/>
            <a:ext cx="65715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lt1"/>
                </a:solidFill>
                <a:latin typeface="Koulen"/>
                <a:ea typeface="Koulen"/>
                <a:cs typeface="Koulen"/>
                <a:sym typeface="Koulen"/>
              </a:rPr>
              <a:t>Data Exploration</a:t>
            </a:r>
            <a:endParaRPr sz="600">
              <a:latin typeface="Koulen"/>
              <a:ea typeface="Koulen"/>
              <a:cs typeface="Koulen"/>
              <a:sym typeface="Koulen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664050" y="1194676"/>
            <a:ext cx="7815900" cy="3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492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DM Sans"/>
              <a:buChar char="●"/>
            </a:pPr>
            <a:r>
              <a:rPr lang="en-GB" sz="1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Used Kaggle match-level League of Legends dataset with ~100k entries</a:t>
            </a:r>
            <a:endParaRPr sz="19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92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DM Sans"/>
              <a:buChar char="●"/>
            </a:pPr>
            <a:r>
              <a:rPr lang="en-GB" sz="1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Cleaned data to include only classic </a:t>
            </a:r>
            <a:r>
              <a:rPr lang="en-GB" sz="1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game modes</a:t>
            </a:r>
            <a:r>
              <a:rPr lang="en-GB" sz="1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fixing role labels, dropping invalid champions, and standardizing feature formats</a:t>
            </a:r>
            <a:endParaRPr sz="19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92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DM Sans"/>
              <a:buChar char="●"/>
            </a:pPr>
            <a:r>
              <a:rPr lang="en-GB" sz="1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Engineered key performance metrics: KDA, GoldPerMin, CSPerMin, DmgPerMin, VisionPerMin, DmgPerGold, and DmgEfficiency.</a:t>
            </a:r>
            <a:endParaRPr sz="19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92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DM Sans"/>
              <a:buChar char="●"/>
            </a:pPr>
            <a:r>
              <a:rPr lang="en-GB" sz="1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Identified moderate to strong positive correlations between </a:t>
            </a:r>
            <a:r>
              <a:rPr lang="en-GB" sz="1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several performance metrics </a:t>
            </a:r>
            <a:r>
              <a:rPr lang="en-GB" sz="1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and match victories, as well as strong negative correlations between deaths and winning</a:t>
            </a:r>
            <a:endParaRPr sz="19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492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DM Sans"/>
              <a:buChar char="●"/>
            </a:pPr>
            <a:r>
              <a:rPr lang="en-GB" sz="19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Noted significant rank imbalance, with Master overrepresented.</a:t>
            </a:r>
            <a:endParaRPr sz="19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8000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7"/>
          <p:cNvSpPr txBox="1"/>
          <p:nvPr/>
        </p:nvSpPr>
        <p:spPr>
          <a:xfrm>
            <a:off x="1602826" y="411850"/>
            <a:ext cx="62712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lt1"/>
                </a:solidFill>
                <a:latin typeface="Koulen"/>
                <a:ea typeface="Koulen"/>
                <a:cs typeface="Koulen"/>
                <a:sym typeface="Koulen"/>
              </a:rPr>
              <a:t>Model Evaluation</a:t>
            </a:r>
            <a:endParaRPr sz="600">
              <a:latin typeface="Koulen"/>
              <a:ea typeface="Koulen"/>
              <a:cs typeface="Koulen"/>
              <a:sym typeface="Koulen"/>
            </a:endParaRPr>
          </a:p>
        </p:txBody>
      </p:sp>
      <p:sp>
        <p:nvSpPr>
          <p:cNvPr id="149" name="Google Shape;149;p27"/>
          <p:cNvSpPr txBox="1"/>
          <p:nvPr/>
        </p:nvSpPr>
        <p:spPr>
          <a:xfrm>
            <a:off x="664053" y="1055391"/>
            <a:ext cx="7815900" cy="15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Char char="●"/>
            </a:pPr>
            <a:r>
              <a:rPr lang="en-GB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Multiple models trained on dataset: including vanilla Logistic Regression, Ridge Classifier CV, and several tree-based methods</a:t>
            </a:r>
            <a:endParaRPr sz="16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Char char="●"/>
            </a:pPr>
            <a:r>
              <a:rPr lang="en-GB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Decision Tree achieved the strongest results with a training accuracy of 100% and a testing accuracy of 93.9%</a:t>
            </a:r>
            <a:endParaRPr sz="16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30200" lvl="1" marL="9144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DM Sans"/>
              <a:buChar char="○"/>
            </a:pPr>
            <a:r>
              <a:rPr lang="en-GB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Able to capture non-linear relationships between features and effectively distinguish between ranks</a:t>
            </a:r>
            <a:endParaRPr sz="16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0" name="Google Shape;150;p27" title="Screenshot 2025-11-19 at 10.24.2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7224" y="2835727"/>
            <a:ext cx="5409551" cy="93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7" title="Screenshot 2025-11-19 at 10.24.4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7225" y="3918814"/>
            <a:ext cx="5409551" cy="939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80000"/>
                </a:srgbClr>
              </a:gs>
              <a:gs pos="100000">
                <a:schemeClr val="dk1"/>
              </a:gs>
            </a:gsLst>
            <a:lin ang="5400012" scaled="0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1162577" y="411850"/>
            <a:ext cx="6990300" cy="5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solidFill>
                  <a:schemeClr val="lt1"/>
                </a:solidFill>
                <a:latin typeface="Koulen"/>
                <a:ea typeface="Koulen"/>
                <a:cs typeface="Koulen"/>
                <a:sym typeface="Koulen"/>
              </a:rPr>
              <a:t>Streamlit Application Demo</a:t>
            </a:r>
            <a:endParaRPr sz="600">
              <a:latin typeface="Koulen"/>
              <a:ea typeface="Koulen"/>
              <a:cs typeface="Koulen"/>
              <a:sym typeface="Koulen"/>
            </a:endParaRPr>
          </a:p>
        </p:txBody>
      </p:sp>
      <p:pic>
        <p:nvPicPr>
          <p:cNvPr id="158" name="Google Shape;158;p28" title="COMP560 Final Project Dem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3625" y="1066325"/>
            <a:ext cx="6308200" cy="354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9" title="89a02acb4e25a0083d9072ca226c25eac75da6bd-1280x720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9"/>
          <p:cNvSpPr/>
          <p:nvPr/>
        </p:nvSpPr>
        <p:spPr>
          <a:xfrm>
            <a:off x="13" y="0"/>
            <a:ext cx="9144000" cy="5143500"/>
          </a:xfrm>
          <a:prstGeom prst="rect">
            <a:avLst/>
          </a:prstGeom>
          <a:solidFill>
            <a:schemeClr val="dk1">
              <a:alpha val="61960"/>
            </a:scheme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9"/>
          <p:cNvSpPr/>
          <p:nvPr/>
        </p:nvSpPr>
        <p:spPr>
          <a:xfrm>
            <a:off x="1844625" y="2181412"/>
            <a:ext cx="5454804" cy="7806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0" i="0">
                <a:ln>
                  <a:noFill/>
                </a:ln>
                <a:gradFill>
                  <a:gsLst>
                    <a:gs pos="0">
                      <a:srgbClr val="9B775A"/>
                    </a:gs>
                    <a:gs pos="50000">
                      <a:srgbClr val="CFB27C"/>
                    </a:gs>
                    <a:gs pos="100000">
                      <a:srgbClr val="9B775A"/>
                    </a:gs>
                  </a:gsLst>
                  <a:lin ang="5400012" scaled="0"/>
                </a:gradFill>
                <a:latin typeface="Koulen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